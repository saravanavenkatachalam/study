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359" r:id="rId2"/>
    <p:sldId id="365" r:id="rId3"/>
    <p:sldId id="376" r:id="rId4"/>
    <p:sldId id="370" r:id="rId5"/>
    <p:sldId id="366" r:id="rId6"/>
    <p:sldId id="371" r:id="rId7"/>
    <p:sldId id="377" r:id="rId8"/>
    <p:sldId id="367" r:id="rId9"/>
    <p:sldId id="373" r:id="rId10"/>
    <p:sldId id="36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076F24-FAAC-4DFE-9AEC-C9F267F9744F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CB9A39-0B28-4DBD-A593-25AEBE096F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7666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A7E1BB-25B4-574B-B089-309528012E51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7481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946D2-4FBD-4701-53D2-46C83ECED5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C625AA-ED04-B053-2AD4-C5DFF4EC4B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DE53BB-3DE7-1DEF-4575-DBE1F7C5A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16DFA-6A81-4654-BA58-1C9AA06DB1EA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9EE621-F22F-B24D-C9BE-45D8D39C7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EEED3F-95DD-E04E-1A5A-3F5D0D597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67ADC-E483-4ACF-BA84-DB3EC66235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6294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BB3AC-353C-DEFD-046A-1D72D839E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7CE4C-75AF-7830-B863-04D68E2A04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14B09A-5281-4B5B-8E26-12EB40B42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16DFA-6A81-4654-BA58-1C9AA06DB1EA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CBE782-FB42-2E82-8218-BB379433B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1A2381-96C2-9691-5782-2F2A308AB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67ADC-E483-4ACF-BA84-DB3EC66235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7760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C5ACC-70A1-A393-61CA-160B28AEF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9F9E0C-8123-748D-3652-8AC6B1FF2D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CD9B3D-981C-93A8-2E6D-B89BE8A20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16DFA-6A81-4654-BA58-1C9AA06DB1EA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897C8C-02AE-4EC6-3FF2-C3328BF33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BD826-DC0A-AECA-E3AA-94754A3E8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67ADC-E483-4ACF-BA84-DB3EC66235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3683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B39AC-BB27-9960-A982-3BA0F157D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3A293-D7FB-26C7-49E8-A3A34EC217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1F8E75-3FD0-3EC9-2DF2-7BB7C404F4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4D4586-3CDE-64B7-4862-CC7D6F137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16DFA-6A81-4654-BA58-1C9AA06DB1EA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C5AB86-009C-BFAD-15A1-A60E16407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3E587E-9B47-E8DA-5939-8546EBD70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67ADC-E483-4ACF-BA84-DB3EC66235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7255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16EF8-84EC-7994-A89F-4C316F048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F94647-7A6B-87CA-ECDB-68328D601E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78E051-0A91-DBB7-4F0F-937498442C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D82F92-31FD-9EA6-9A8B-10D3154C91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9EE78F-8585-2ADE-7F68-43068F4081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5B1E7E-8536-D41B-3B92-46F6C6EC4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16DFA-6A81-4654-BA58-1C9AA06DB1EA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A6992E-A3BC-899A-D4B7-F5108D9B6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5F4943-26AE-0E8C-804B-3CC5144AD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67ADC-E483-4ACF-BA84-DB3EC66235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3911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5461D-7901-E42F-C19F-6F11F4C7C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6BF904-191D-46BE-6606-E31B999B7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16DFA-6A81-4654-BA58-1C9AA06DB1EA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824A20-2BB8-79D6-1B0C-DC5939B78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9C03EA-8027-F830-FA99-32AC092A5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67ADC-E483-4ACF-BA84-DB3EC66235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482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ADF811-DF2B-CC9A-D376-DE23F6C8C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16DFA-6A81-4654-BA58-1C9AA06DB1EA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F2EC8B-18C6-62FB-C8F1-6F782BC76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107C61-AB64-3601-D810-D32B77045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67ADC-E483-4ACF-BA84-DB3EC66235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9977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3C396-7CE8-3596-59CF-DDF661199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F00316-8C00-EF79-6D76-4A359F5C6F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2CF8BA-8FD5-BD8D-9FD3-9B1364A3B6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1BF6CE-3700-F36D-AA44-18BE5C131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16DFA-6A81-4654-BA58-1C9AA06DB1EA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00A067-7EDA-46EF-20DC-04C75CC54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FBA69E-A6D1-A525-54CA-4E97111E1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67ADC-E483-4ACF-BA84-DB3EC66235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4848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EF89D-CBB6-E1F9-2129-C3EFBCA04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73CA60-8393-8B22-AEC2-6EFAF705C9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409AF4-81BE-DE7B-B7BC-47441A4A65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5BB5BE-BA09-212F-ECD3-AB7783E3E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16DFA-6A81-4654-BA58-1C9AA06DB1EA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28D78F-44E2-F9A9-558C-C731860D3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B59C12-9EE4-DC1B-ECD7-C6C049C8C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67ADC-E483-4ACF-BA84-DB3EC66235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9266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A9831-9043-E1C0-3BEF-049CE2DF8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BDE6CB-4637-8C42-E2F1-23FD2B2F12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51F292-C609-32C1-4ADB-CDCCC01C6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16DFA-6A81-4654-BA58-1C9AA06DB1EA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B1991B-27F4-A719-E7D2-6950DE57C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178E5E-A8BC-1659-DC43-17EBB39DE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67ADC-E483-4ACF-BA84-DB3EC66235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19793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43ACC8-CCEA-7DE5-3FF9-967C2E0A6F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389C7E-7FF9-6CF5-30FD-4B9A4ADA64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816209-6BD8-B125-9FC3-038F2AB5D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16DFA-6A81-4654-BA58-1C9AA06DB1EA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CB489-9BAB-7B91-BDBA-57FD75F33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66394-931C-0CF2-929B-49E9E36F9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67ADC-E483-4ACF-BA84-DB3EC66235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6031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hort Title - cloud with red wide trellis"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B6B568E-C907-154F-B8B9-6B9E2D5F65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3680" y="1596171"/>
            <a:ext cx="5862320" cy="2552699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lnSpc>
                <a:spcPts val="8200"/>
              </a:lnSpc>
              <a:buNone/>
              <a:defRPr sz="74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C974797-F8F6-2E47-988B-FF5AFC751F8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3680" y="6361669"/>
            <a:ext cx="2616994" cy="17408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200" b="0" i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AF80A485-3231-0F43-86FC-1F3036CE01B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34974" y="5151120"/>
            <a:ext cx="5638313" cy="457200"/>
          </a:xfrm>
        </p:spPr>
        <p:txBody>
          <a:bodyPr/>
          <a:lstStyle>
            <a:lvl1pPr marL="0" indent="0">
              <a:buNone/>
              <a:defRPr sz="1200" b="0" i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name, role, group 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FF1D9E4-49B9-FD59-E6A9-BC27828EBF0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52528"/>
          <a:stretch/>
        </p:blipFill>
        <p:spPr>
          <a:xfrm>
            <a:off x="6240464" y="0"/>
            <a:ext cx="5951536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C3542B4-C227-E949-6966-AE4EBAB0570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0669" y="342900"/>
            <a:ext cx="1381538" cy="434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6689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332EC71-5381-9148-8B96-1690255441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4480" y="6317405"/>
            <a:ext cx="257355" cy="215947"/>
          </a:xfrm>
          <a:prstGeom prst="rect">
            <a:avLst/>
          </a:prstGeom>
        </p:spPr>
        <p:txBody>
          <a:bodyPr lIns="0" tIns="0" rIns="0" bIns="0" numCol="1" anchor="b">
            <a:noAutofit/>
          </a:bodyPr>
          <a:lstStyle>
            <a:lvl1pPr algn="r">
              <a:defRPr sz="700" b="0" i="0">
                <a:solidFill>
                  <a:schemeClr val="tx2"/>
                </a:solidFill>
                <a:latin typeface="TWK Everett" panose="020B0204000000000000" pitchFamily="34" charset="77"/>
              </a:defRPr>
            </a:lvl1pPr>
          </a:lstStyle>
          <a:p>
            <a:fld id="{BB55D76A-9B6E-CD41-ABBE-F6C938295B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D8ABD51D-894D-544C-B7DD-8BE9E145D2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" y="293125"/>
            <a:ext cx="10439401" cy="28107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0" i="0">
                <a:solidFill>
                  <a:srgbClr val="FF462D"/>
                </a:solidFill>
                <a:latin typeface="TWK Everett" panose="020B0204000000000000" pitchFamily="34" charset="77"/>
              </a:defRPr>
            </a:lvl1pPr>
          </a:lstStyle>
          <a:p>
            <a:r>
              <a:rPr lang="en-US"/>
              <a:t>Add heading here</a:t>
            </a:r>
          </a:p>
        </p:txBody>
      </p:sp>
      <p:sp>
        <p:nvSpPr>
          <p:cNvPr id="17" name="Text Placeholder 57">
            <a:extLst>
              <a:ext uri="{FF2B5EF4-FFF2-40B4-BE49-F238E27FC236}">
                <a16:creationId xmlns:a16="http://schemas.microsoft.com/office/drawing/2014/main" id="{5542637F-F685-BC43-8125-94FB9084AD6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28600" y="712673"/>
            <a:ext cx="10439966" cy="3108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0" i="0" dirty="0" smtClean="0">
                <a:solidFill>
                  <a:srgbClr val="3D3C3C"/>
                </a:solidFill>
                <a:latin typeface="TWK Everett" panose="020B0204000000000000" pitchFamily="34" charset="77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Add subheading here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B73BBD54-FD2A-DC49-B88D-D4A899116E2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28600" y="1714500"/>
            <a:ext cx="5638800" cy="3467100"/>
          </a:xfrm>
        </p:spPr>
        <p:txBody>
          <a:bodyPr/>
          <a:lstStyle>
            <a:lvl1pPr marL="0" indent="0">
              <a:buFontTx/>
              <a:buNone/>
              <a:defRPr sz="1600">
                <a:solidFill>
                  <a:srgbClr val="3D3C3C"/>
                </a:solidFill>
              </a:defRPr>
            </a:lvl1pPr>
            <a:lvl2pPr marL="288925" indent="0">
              <a:buFontTx/>
              <a:buNone/>
              <a:defRPr sz="1600">
                <a:solidFill>
                  <a:srgbClr val="3D3C3C"/>
                </a:solidFill>
              </a:defRPr>
            </a:lvl2pPr>
            <a:lvl3pPr>
              <a:buFontTx/>
              <a:buNone/>
              <a:defRPr sz="1600">
                <a:solidFill>
                  <a:srgbClr val="3D3C3C"/>
                </a:solidFill>
              </a:defRPr>
            </a:lvl3pPr>
            <a:lvl4pPr marL="741363" indent="0">
              <a:buFontTx/>
              <a:buNone/>
              <a:defRPr sz="1600">
                <a:solidFill>
                  <a:srgbClr val="3D3C3C"/>
                </a:solidFill>
              </a:defRPr>
            </a:lvl4pPr>
            <a:lvl5pPr marL="1042987" indent="0">
              <a:buFontTx/>
              <a:buNone/>
              <a:defRPr sz="16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lvl="0"/>
            <a:endParaRPr lang="en-US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C4AD8D1B-3F60-EC44-A487-7E5D890DA5D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324599" y="1714500"/>
            <a:ext cx="5638800" cy="3467100"/>
          </a:xfrm>
        </p:spPr>
        <p:txBody>
          <a:bodyPr/>
          <a:lstStyle>
            <a:lvl1pPr marL="0" indent="0">
              <a:buFontTx/>
              <a:buNone/>
              <a:defRPr sz="1600">
                <a:solidFill>
                  <a:srgbClr val="3D3C3C"/>
                </a:solidFill>
              </a:defRPr>
            </a:lvl1pPr>
            <a:lvl2pPr marL="288925" indent="0">
              <a:buFontTx/>
              <a:buNone/>
              <a:defRPr sz="1600">
                <a:solidFill>
                  <a:srgbClr val="3D3C3C"/>
                </a:solidFill>
              </a:defRPr>
            </a:lvl2pPr>
            <a:lvl3pPr>
              <a:buFontTx/>
              <a:buNone/>
              <a:defRPr sz="1600">
                <a:solidFill>
                  <a:srgbClr val="3D3C3C"/>
                </a:solidFill>
              </a:defRPr>
            </a:lvl3pPr>
            <a:lvl4pPr marL="741363" indent="0">
              <a:buFontTx/>
              <a:buNone/>
              <a:defRPr sz="1600">
                <a:solidFill>
                  <a:srgbClr val="3D3C3C"/>
                </a:solidFill>
              </a:defRPr>
            </a:lvl4pPr>
            <a:lvl5pPr marL="1042987" indent="0">
              <a:buFontTx/>
              <a:buNone/>
              <a:defRPr sz="1600">
                <a:solidFill>
                  <a:srgbClr val="3D3C3C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lvl="0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6153ACC-0310-05A7-1195-61E4CA28BBD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400" y="6342513"/>
            <a:ext cx="723467" cy="2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769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12BE3F-4842-D6F9-6351-51D08C1A1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A8313D-780B-9407-A7AF-9056C3A1AE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EE3B06-E142-FE6B-775D-77C595F00F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216DFA-6A81-4654-BA58-1C9AA06DB1EA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9C3642-5497-4902-ECE8-6E1CDCC4B9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9EF913-2F70-2C42-77DF-E3A0CD28E1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367ADC-E483-4ACF-BA84-DB3EC66235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7008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522C1C2-3C23-6245-9606-B7DB8FB1F5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1485" y="1596171"/>
            <a:ext cx="11093457" cy="2552699"/>
          </a:xfrm>
        </p:spPr>
        <p:txBody>
          <a:bodyPr/>
          <a:lstStyle/>
          <a:p>
            <a:r>
              <a:rPr lang="en-US" sz="7000" dirty="0"/>
              <a:t>Azure Storage Account</a:t>
            </a:r>
            <a:endParaRPr lang="en-MX" sz="7000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485F1630-AFF9-C040-91C5-9027172A0DD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33680" y="4470110"/>
            <a:ext cx="5641848" cy="457200"/>
          </a:xfrm>
        </p:spPr>
        <p:txBody>
          <a:bodyPr/>
          <a:lstStyle/>
          <a:p>
            <a:endParaRPr lang="en-US" sz="2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9DFB45-2D36-3BED-832C-23287C217B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50494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75490-2EAE-230B-EAA8-22D8CD05A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Azure Storage Account</a:t>
            </a:r>
            <a:br>
              <a:rPr lang="en-IN" b="1" dirty="0"/>
            </a:b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9F1F3B-8694-4FB9-0CB9-563DF19D5988}"/>
              </a:ext>
            </a:extLst>
          </p:cNvPr>
          <p:cNvSpPr txBox="1"/>
          <p:nvPr/>
        </p:nvSpPr>
        <p:spPr>
          <a:xfrm>
            <a:off x="228599" y="876691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/>
              <a:t>Azure Storage Account Overview</a:t>
            </a:r>
          </a:p>
          <a:p>
            <a:pPr marL="342900" indent="-342900">
              <a:buAutoNum type="arabicPeriod"/>
            </a:pPr>
            <a:r>
              <a:rPr lang="en-US" b="1" dirty="0"/>
              <a:t>Storage Replication</a:t>
            </a:r>
          </a:p>
          <a:p>
            <a:pPr marL="342900" indent="-342900">
              <a:buAutoNum type="arabicPeriod"/>
            </a:pPr>
            <a:r>
              <a:rPr lang="en-US" b="1" dirty="0"/>
              <a:t>Storage Types</a:t>
            </a:r>
          </a:p>
          <a:p>
            <a:pPr marL="342900" indent="-342900">
              <a:buAutoNum type="arabicPeriod"/>
            </a:pPr>
            <a:r>
              <a:rPr lang="en-US" b="1" dirty="0"/>
              <a:t>Access Tier</a:t>
            </a:r>
          </a:p>
          <a:p>
            <a:pPr marL="342900" indent="-342900">
              <a:buAutoNum type="arabicPeriod"/>
            </a:pPr>
            <a:r>
              <a:rPr lang="en-IN" b="1" dirty="0"/>
              <a:t>Networking</a:t>
            </a:r>
          </a:p>
          <a:p>
            <a:pPr marL="342900" indent="-342900">
              <a:buAutoNum type="arabicPeriod"/>
            </a:pPr>
            <a:r>
              <a:rPr lang="en-IN" b="1" dirty="0"/>
              <a:t>Backup</a:t>
            </a:r>
          </a:p>
          <a:p>
            <a:pPr marL="342900" indent="-342900">
              <a:buAutoNum type="arabicPeriod"/>
            </a:pPr>
            <a:r>
              <a:rPr lang="en-IN" b="1" dirty="0"/>
              <a:t>Encryption </a:t>
            </a:r>
          </a:p>
          <a:p>
            <a:pPr marL="342900" indent="-342900">
              <a:buAutoNum type="arabicPeriod"/>
            </a:pPr>
            <a:r>
              <a:rPr lang="en-IN" b="1" dirty="0"/>
              <a:t>Tools to Access the Storage Account</a:t>
            </a:r>
          </a:p>
          <a:p>
            <a:pPr marL="342900" indent="-342900">
              <a:buAutoNum type="arabicPeriod"/>
            </a:pPr>
            <a:r>
              <a:rPr lang="en-IN" b="1" dirty="0"/>
              <a:t>Data Management </a:t>
            </a:r>
            <a:r>
              <a:rPr lang="en-US" b="1" dirty="0"/>
              <a:t>features</a:t>
            </a:r>
          </a:p>
          <a:p>
            <a:pPr marL="342900" indent="-342900">
              <a:buAutoNum type="arabicPeriod"/>
            </a:pPr>
            <a:r>
              <a:rPr lang="en-US" b="1" dirty="0"/>
              <a:t>Best Practices </a:t>
            </a:r>
            <a:endParaRPr lang="en-IN" b="1" dirty="0"/>
          </a:p>
          <a:p>
            <a:pPr marL="342900" indent="-342900">
              <a:buAutoNum type="arabicPeriod"/>
            </a:pPr>
            <a:endParaRPr lang="en-IN" dirty="0"/>
          </a:p>
          <a:p>
            <a:pPr marL="342900" indent="-342900">
              <a:buAutoNum type="arabi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45952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B632F-1C5A-6431-36A2-C2742986F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9CD81-E4A4-DE8D-08EC-515DFF659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Azure Storage Account</a:t>
            </a:r>
            <a:br>
              <a:rPr lang="en-IN" b="1" dirty="0"/>
            </a:b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FD288F-A793-8B17-3804-EC2019DD38EC}"/>
              </a:ext>
            </a:extLst>
          </p:cNvPr>
          <p:cNvSpPr txBox="1"/>
          <p:nvPr/>
        </p:nvSpPr>
        <p:spPr>
          <a:xfrm>
            <a:off x="228599" y="87669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/>
              <a:t>Introduction to Azure Storage Account</a:t>
            </a:r>
          </a:p>
          <a:p>
            <a:pPr marL="342900" indent="-342900">
              <a:buAutoNum type="arabicPeriod"/>
            </a:pP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B2683D3-CE82-453A-EE71-66029561BE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197" y="2713214"/>
            <a:ext cx="5645150" cy="65405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7626805-4F01-3162-82B8-36FF425C2132}"/>
              </a:ext>
            </a:extLst>
          </p:cNvPr>
          <p:cNvSpPr txBox="1"/>
          <p:nvPr/>
        </p:nvSpPr>
        <p:spPr>
          <a:xfrm>
            <a:off x="454024" y="1523022"/>
            <a:ext cx="10439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Azure Storage is a Microsoft-managed service providing cloud storage that is highly available, secure, durable, scalable, and redundant.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E9ED75A-9C22-60E8-49C2-4065DEA93BE6}"/>
              </a:ext>
            </a:extLst>
          </p:cNvPr>
          <p:cNvSpPr txBox="1"/>
          <p:nvPr/>
        </p:nvSpPr>
        <p:spPr>
          <a:xfrm>
            <a:off x="3062061" y="3522364"/>
            <a:ext cx="8298090" cy="7775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Premium Will support LRS and ZRS only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Standard Will Support LRS,ZRS,GRS,GZRS</a:t>
            </a:r>
          </a:p>
        </p:txBody>
      </p:sp>
    </p:spTree>
    <p:extLst>
      <p:ext uri="{BB962C8B-B14F-4D97-AF65-F5344CB8AC3E}">
        <p14:creationId xmlns:p14="http://schemas.microsoft.com/office/powerpoint/2010/main" val="19520421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70D5E-F5DA-E2F3-06E2-CB4C73E03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Storage </a:t>
            </a:r>
            <a:r>
              <a:rPr lang="en-IN" dirty="0"/>
              <a:t>Replication types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B256C8-610F-DFC4-F82F-DDAFCF3E2283}"/>
              </a:ext>
            </a:extLst>
          </p:cNvPr>
          <p:cNvSpPr txBox="1"/>
          <p:nvPr/>
        </p:nvSpPr>
        <p:spPr>
          <a:xfrm>
            <a:off x="228599" y="966088"/>
            <a:ext cx="4669972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/>
              <a:t>1️⃣ LRS – Locally Redundant Storage</a:t>
            </a:r>
          </a:p>
          <a:p>
            <a:pPr>
              <a:buNone/>
            </a:pPr>
            <a:r>
              <a:rPr lang="en-IN" sz="1600" b="1" dirty="0"/>
              <a:t>Total Copies: 3</a:t>
            </a:r>
            <a:endParaRPr lang="en-IN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All 3 copies stored </a:t>
            </a:r>
            <a:r>
              <a:rPr lang="en-IN" sz="1600" b="1" dirty="0"/>
              <a:t>within a single </a:t>
            </a:r>
            <a:r>
              <a:rPr lang="en-IN" sz="1600" b="1" dirty="0" err="1"/>
              <a:t>datacenter</a:t>
            </a:r>
            <a:endParaRPr lang="en-IN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Synchronous replication</a:t>
            </a:r>
          </a:p>
          <a:p>
            <a:pPr>
              <a:buNone/>
            </a:pPr>
            <a:endParaRPr lang="en-IN" sz="1600" dirty="0"/>
          </a:p>
          <a:p>
            <a:pPr>
              <a:buNone/>
            </a:pPr>
            <a:r>
              <a:rPr lang="en-IN" sz="1600" b="1" dirty="0"/>
              <a:t>2️⃣ ZRS – Zone Redundant Storage</a:t>
            </a:r>
          </a:p>
          <a:p>
            <a:pPr>
              <a:buNone/>
            </a:pPr>
            <a:r>
              <a:rPr lang="en-IN" sz="1600" b="1" dirty="0"/>
              <a:t>Total Copies: 3</a:t>
            </a:r>
            <a:endParaRPr lang="en-IN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Stored </a:t>
            </a:r>
            <a:r>
              <a:rPr lang="en-IN" sz="1600" b="1" dirty="0"/>
              <a:t>across 3 different Availability Zones</a:t>
            </a:r>
            <a:endParaRPr lang="en-IN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One copy in each zone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Protects from zone failure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3EF438-ED09-1E9A-5735-A3F9DCF1E512}"/>
              </a:ext>
            </a:extLst>
          </p:cNvPr>
          <p:cNvSpPr txBox="1"/>
          <p:nvPr/>
        </p:nvSpPr>
        <p:spPr>
          <a:xfrm>
            <a:off x="5448299" y="574203"/>
            <a:ext cx="6096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sz="1800" dirty="0"/>
          </a:p>
          <a:p>
            <a:pPr>
              <a:buNone/>
            </a:pPr>
            <a:r>
              <a:rPr lang="en-IN" sz="1800" b="1" dirty="0"/>
              <a:t>3️⃣ GRS – Geo-Redundant Storage</a:t>
            </a:r>
          </a:p>
          <a:p>
            <a:pPr>
              <a:buNone/>
            </a:pPr>
            <a:r>
              <a:rPr lang="en-IN" sz="1800" b="1" dirty="0"/>
              <a:t>Total Copies: 6</a:t>
            </a:r>
            <a:br>
              <a:rPr lang="en-IN" sz="1800" dirty="0"/>
            </a:br>
            <a:r>
              <a:rPr lang="en-IN" sz="1800" dirty="0"/>
              <a:t>Breakdown: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 dirty="0"/>
              <a:t>3 copies</a:t>
            </a:r>
            <a:r>
              <a:rPr lang="en-IN" sz="1800" dirty="0"/>
              <a:t> in primary region (LRS)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 dirty="0"/>
              <a:t>3 copies</a:t>
            </a:r>
            <a:r>
              <a:rPr lang="en-IN" sz="1800" dirty="0"/>
              <a:t> in secondary region (LRS)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/>
              <a:t>Replication to secondary region is </a:t>
            </a:r>
            <a:r>
              <a:rPr lang="en-IN" sz="1800" b="1" dirty="0"/>
              <a:t>asynchronous</a:t>
            </a:r>
            <a:endParaRPr lang="en-IN" sz="1800" dirty="0"/>
          </a:p>
          <a:p>
            <a:pPr>
              <a:buNone/>
            </a:pPr>
            <a:br>
              <a:rPr lang="en-IN" sz="1800" dirty="0"/>
            </a:br>
            <a:r>
              <a:rPr lang="en-IN" sz="1800" b="1" dirty="0"/>
              <a:t>4️⃣ GZRS – Geo-Zone Redundant Storage</a:t>
            </a:r>
          </a:p>
          <a:p>
            <a:pPr>
              <a:buNone/>
            </a:pPr>
            <a:r>
              <a:rPr lang="en-IN" sz="1800" b="1" dirty="0"/>
              <a:t>Total Copies: 6</a:t>
            </a:r>
            <a:br>
              <a:rPr lang="en-IN" sz="1800" dirty="0"/>
            </a:br>
            <a:r>
              <a:rPr lang="en-IN" sz="1800" dirty="0"/>
              <a:t>Breakdown: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 dirty="0"/>
              <a:t>3 copies</a:t>
            </a:r>
            <a:r>
              <a:rPr lang="en-IN" sz="1800" dirty="0"/>
              <a:t> in primary region (ZRS → across 3 zones)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 dirty="0"/>
              <a:t>3 copies</a:t>
            </a:r>
            <a:r>
              <a:rPr lang="en-IN" sz="1800" dirty="0"/>
              <a:t> in secondary region (LRS)</a:t>
            </a:r>
          </a:p>
          <a:p>
            <a:pPr>
              <a:buNone/>
            </a:pPr>
            <a:r>
              <a:rPr lang="en-IN" sz="1800" dirty="0"/>
              <a:t>This is the </a:t>
            </a:r>
            <a:r>
              <a:rPr lang="en-IN" sz="1800" b="1" dirty="0"/>
              <a:t>highest durability</a:t>
            </a:r>
            <a:r>
              <a:rPr lang="en-IN" sz="1800" dirty="0"/>
              <a:t> storage option in Azure.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AE1227-16A4-7DBF-B7D5-227C64F13A90}"/>
              </a:ext>
            </a:extLst>
          </p:cNvPr>
          <p:cNvSpPr txBox="1"/>
          <p:nvPr/>
        </p:nvSpPr>
        <p:spPr>
          <a:xfrm>
            <a:off x="846363" y="4544521"/>
            <a:ext cx="810441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latin typeface="Consolas" panose="020B0609020204030204" pitchFamily="49" charset="0"/>
              </a:rPr>
              <a:t>MS SLA for Data Availability </a:t>
            </a:r>
            <a:br>
              <a:rPr lang="en-US" sz="1800" dirty="0">
                <a:effectLst/>
                <a:latin typeface="Consolas" panose="020B0609020204030204" pitchFamily="49" charset="0"/>
              </a:rPr>
            </a:br>
            <a:r>
              <a:rPr lang="en-US" sz="1800" dirty="0">
                <a:effectLst/>
                <a:latin typeface="Consolas" panose="020B0609020204030204" pitchFamily="49" charset="0"/>
              </a:rPr>
              <a:t>LRS provides at least 99.999999999% (11 9s)</a:t>
            </a:r>
            <a:endParaRPr lang="en-US" sz="1400" dirty="0">
              <a:effectLst/>
              <a:latin typeface="Arial" panose="020B0604020202020204" pitchFamily="34" charset="0"/>
            </a:endParaRPr>
          </a:p>
          <a:p>
            <a:pPr>
              <a:buNone/>
            </a:pPr>
            <a:r>
              <a:rPr lang="en-US" sz="1800" dirty="0">
                <a:effectLst/>
                <a:latin typeface="Consolas" panose="020B0609020204030204" pitchFamily="49" charset="0"/>
              </a:rPr>
              <a:t>ZRS provides at least 99.9999999999% (12 9s) </a:t>
            </a:r>
            <a:endParaRPr lang="en-US" sz="1400" dirty="0">
              <a:effectLst/>
              <a:latin typeface="Arial" panose="020B0604020202020204" pitchFamily="34" charset="0"/>
            </a:endParaRPr>
          </a:p>
          <a:p>
            <a:pPr>
              <a:buNone/>
            </a:pPr>
            <a:r>
              <a:rPr lang="en-US" sz="1800" dirty="0">
                <a:effectLst/>
                <a:latin typeface="Consolas" panose="020B0609020204030204" pitchFamily="49" charset="0"/>
              </a:rPr>
              <a:t>GRS provides at least 99.99999999999999% (16 9s)</a:t>
            </a:r>
            <a:endParaRPr lang="en-US" sz="1400" dirty="0">
              <a:effectLst/>
              <a:latin typeface="Arial" panose="020B0604020202020204" pitchFamily="34" charset="0"/>
            </a:endParaRPr>
          </a:p>
          <a:p>
            <a:pPr>
              <a:buNone/>
            </a:pPr>
            <a:r>
              <a:rPr lang="en-US" sz="1800" dirty="0">
                <a:effectLst/>
                <a:latin typeface="Consolas" panose="020B0609020204030204" pitchFamily="49" charset="0"/>
              </a:rPr>
              <a:t>GZRS provides at least 99.99999999999999% (16 9s)</a:t>
            </a:r>
            <a:endParaRPr lang="en-US" sz="1400" dirty="0"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81948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10CEE-5B75-596B-ED90-DADD36B59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95830-DCA4-6B10-4E22-1F34EB8A4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Azure Storage Account</a:t>
            </a:r>
            <a:br>
              <a:rPr lang="en-IN" b="1" dirty="0"/>
            </a:b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FB476D-A2CB-0FDA-C1F6-E8BB179F764B}"/>
              </a:ext>
            </a:extLst>
          </p:cNvPr>
          <p:cNvSpPr txBox="1"/>
          <p:nvPr/>
        </p:nvSpPr>
        <p:spPr>
          <a:xfrm>
            <a:off x="457199" y="829466"/>
            <a:ext cx="10515601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>
                <a:solidFill>
                  <a:srgbClr val="FF0000"/>
                </a:solidFill>
              </a:rPr>
              <a:t>Storage Services &amp; Use Cases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/>
              <a:t>Blob Storage		</a:t>
            </a:r>
            <a:r>
              <a:rPr lang="en-IN" sz="2000" dirty="0"/>
              <a:t>: Unstructured data (images, videos, backups).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/>
              <a:t>File Storage		</a:t>
            </a:r>
            <a:r>
              <a:rPr lang="en-IN" sz="2000" dirty="0"/>
              <a:t>: SMB and NFS file shares.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/>
              <a:t>Queue Storage		</a:t>
            </a:r>
            <a:r>
              <a:rPr lang="en-IN" sz="2000" dirty="0"/>
              <a:t>: Messaging between components.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/>
              <a:t>Table Storage		</a:t>
            </a:r>
            <a:r>
              <a:rPr lang="en-IN" sz="2000" dirty="0"/>
              <a:t>: NoSQL key-value store.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/>
              <a:t>Disk Storage		</a:t>
            </a:r>
            <a:r>
              <a:rPr lang="en-IN" sz="2000" dirty="0"/>
              <a:t>: Managed disks for VMs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D317D71-9DEE-87B4-27CA-4F8D82787B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7017693"/>
              </p:ext>
            </p:extLst>
          </p:nvPr>
        </p:nvGraphicFramePr>
        <p:xfrm>
          <a:off x="457200" y="3762385"/>
          <a:ext cx="10515600" cy="14630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03512171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6581350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 Case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37033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Block Blob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Images, documents, large files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42407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Append Blob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Logs, append-only workloads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25808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Page Blob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Virtual machine disks (VHD)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78037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02960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FF123-D75A-2787-04B4-77B766494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641C8-03D4-1C68-35B8-8BA7226B9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Azure Storage Account</a:t>
            </a:r>
            <a:br>
              <a:rPr lang="en-IN" b="1" dirty="0"/>
            </a:br>
            <a:endParaRPr lang="en-IN" dirty="0"/>
          </a:p>
        </p:txBody>
      </p:sp>
      <p:pic>
        <p:nvPicPr>
          <p:cNvPr id="3" name="Picture 2" descr="A white and blue box with black text&#10;&#10;AI-generated content may be incorrect.">
            <a:extLst>
              <a:ext uri="{FF2B5EF4-FFF2-40B4-BE49-F238E27FC236}">
                <a16:creationId xmlns:a16="http://schemas.microsoft.com/office/drawing/2014/main" id="{5B23699F-6405-11E3-35E0-208A5199B6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713" y="433664"/>
            <a:ext cx="8055429" cy="405448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AD10056-BA74-E6D5-67C0-EDD910EFEBAE}"/>
              </a:ext>
            </a:extLst>
          </p:cNvPr>
          <p:cNvSpPr txBox="1"/>
          <p:nvPr/>
        </p:nvSpPr>
        <p:spPr>
          <a:xfrm>
            <a:off x="642256" y="4857292"/>
            <a:ext cx="80554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Hot = Pay more to store, less to read.</a:t>
            </a:r>
            <a:br>
              <a:rPr lang="en-US" dirty="0"/>
            </a:br>
            <a:r>
              <a:rPr lang="en-US" dirty="0"/>
              <a:t>Cool = Pay less to store, more to read.</a:t>
            </a:r>
            <a:br>
              <a:rPr lang="en-US" dirty="0"/>
            </a:br>
            <a:r>
              <a:rPr lang="en-US" dirty="0"/>
              <a:t>Archive = Pay very little to store, but expensive and slow to read.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07392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7D480-5997-DDB6-6A10-4F7D8DDBE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080BC-6BC0-D38F-6C8D-ED00F6215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Azure Storage Account</a:t>
            </a:r>
            <a:br>
              <a:rPr lang="en-IN" b="1" dirty="0"/>
            </a:br>
            <a:endParaRPr lang="en-IN" dirty="0"/>
          </a:p>
        </p:txBody>
      </p:sp>
      <p:pic>
        <p:nvPicPr>
          <p:cNvPr id="1026" name="Picture 2" descr="Overview of private endpoints for Azure Storage">
            <a:extLst>
              <a:ext uri="{FF2B5EF4-FFF2-40B4-BE49-F238E27FC236}">
                <a16:creationId xmlns:a16="http://schemas.microsoft.com/office/drawing/2014/main" id="{84513E4B-CFB7-6CE2-644B-5BA8C2338F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7770" y="2997241"/>
            <a:ext cx="5933096" cy="3233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F6D57A1-94AF-5A48-D1FB-F97DA2659AEF}"/>
              </a:ext>
            </a:extLst>
          </p:cNvPr>
          <p:cNvSpPr txBox="1"/>
          <p:nvPr/>
        </p:nvSpPr>
        <p:spPr>
          <a:xfrm>
            <a:off x="315684" y="958455"/>
            <a:ext cx="767442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All networks</a:t>
            </a:r>
            <a:r>
              <a:rPr lang="en-IN" dirty="0"/>
              <a:t> → public, open</a:t>
            </a:r>
            <a:br>
              <a:rPr lang="en-IN" dirty="0"/>
            </a:br>
            <a:r>
              <a:rPr lang="en-US" b="1" dirty="0"/>
              <a:t>Selected networks</a:t>
            </a:r>
            <a:r>
              <a:rPr lang="en-US" dirty="0"/>
              <a:t> → restricted public, medium security</a:t>
            </a:r>
            <a:br>
              <a:rPr lang="en-US" dirty="0"/>
            </a:br>
            <a:r>
              <a:rPr lang="en-US" b="1" dirty="0"/>
              <a:t>Private Endpoint</a:t>
            </a:r>
            <a:r>
              <a:rPr lang="en-US" dirty="0"/>
              <a:t> → fully private, highest security</a:t>
            </a:r>
            <a:br>
              <a:rPr lang="en-US" dirty="0"/>
            </a:br>
            <a:r>
              <a:rPr lang="en-US" dirty="0"/>
              <a:t>	</a:t>
            </a:r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DNS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 is important for PE</a:t>
            </a:r>
            <a:br>
              <a:rPr lang="en-US" dirty="0">
                <a:solidFill>
                  <a:schemeClr val="bg2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	</a:t>
            </a:r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Cross-region access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 → supported with </a:t>
            </a:r>
            <a:r>
              <a:rPr lang="en-US" dirty="0" err="1">
                <a:solidFill>
                  <a:schemeClr val="bg2">
                    <a:lumMod val="75000"/>
                  </a:schemeClr>
                </a:solidFill>
              </a:rPr>
              <a:t>VNet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 Peering + Private DNS</a:t>
            </a:r>
            <a:endParaRPr lang="en-IN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A06F0E-BB47-ECDA-8508-8CCE591201D5}"/>
              </a:ext>
            </a:extLst>
          </p:cNvPr>
          <p:cNvSpPr txBox="1"/>
          <p:nvPr/>
        </p:nvSpPr>
        <p:spPr>
          <a:xfrm>
            <a:off x="315684" y="407915"/>
            <a:ext cx="31582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Storage Account Networking</a:t>
            </a:r>
            <a:endParaRPr lang="en-IN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D6861E-A2A0-DC38-4166-0FBACF26E9D8}"/>
              </a:ext>
            </a:extLst>
          </p:cNvPr>
          <p:cNvSpPr txBox="1"/>
          <p:nvPr/>
        </p:nvSpPr>
        <p:spPr>
          <a:xfrm>
            <a:off x="315684" y="2812575"/>
            <a:ext cx="30963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Storage Account Encryption</a:t>
            </a:r>
            <a:endParaRPr lang="en-IN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D6C9F9-9858-99A0-0D43-3D6049831FF2}"/>
              </a:ext>
            </a:extLst>
          </p:cNvPr>
          <p:cNvSpPr txBox="1"/>
          <p:nvPr/>
        </p:nvSpPr>
        <p:spPr>
          <a:xfrm>
            <a:off x="7304315" y="119998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Storageacc.privatelink.blob.core.windows.net</a:t>
            </a:r>
          </a:p>
          <a:p>
            <a:r>
              <a:rPr lang="en-IN" dirty="0"/>
              <a:t>Storageacc.blob.core.windows.net</a:t>
            </a:r>
          </a:p>
          <a:p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741434-63E7-682D-05CD-D41C07DC2BB2}"/>
              </a:ext>
            </a:extLst>
          </p:cNvPr>
          <p:cNvSpPr txBox="1"/>
          <p:nvPr/>
        </p:nvSpPr>
        <p:spPr>
          <a:xfrm>
            <a:off x="315684" y="3254238"/>
            <a:ext cx="50625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Encryption at Rest(Server Side Encryption SSE)</a:t>
            </a:r>
            <a:br>
              <a:rPr lang="en-US" b="1" dirty="0"/>
            </a:br>
            <a:r>
              <a:rPr lang="en-US" b="1" dirty="0"/>
              <a:t>Encryption in Transit (HTTPS/TLS)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6418294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D88D3-51BE-E9A4-5C87-3841588E7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F928E-F250-FD81-7292-AF587A2E2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Azure Storage Account</a:t>
            </a:r>
            <a:br>
              <a:rPr lang="en-IN" b="1" dirty="0"/>
            </a:b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75BEAD-8D1F-C4C8-6737-57E500310991}"/>
              </a:ext>
            </a:extLst>
          </p:cNvPr>
          <p:cNvSpPr txBox="1"/>
          <p:nvPr/>
        </p:nvSpPr>
        <p:spPr>
          <a:xfrm>
            <a:off x="620486" y="657642"/>
            <a:ext cx="104394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✅ Tools to Access Storage</a:t>
            </a:r>
          </a:p>
          <a:p>
            <a:pPr>
              <a:buNone/>
            </a:pPr>
            <a:r>
              <a:rPr lang="en-IN" dirty="0"/>
              <a:t>Show demos for these tools: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Azure Portal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Azure Storage Explorer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 err="1"/>
              <a:t>AzCopy</a:t>
            </a:r>
            <a:r>
              <a:rPr lang="en-IN" dirty="0"/>
              <a:t> (High-performance CLI for Blob &amp; File Share transfers)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Azure CLI</a:t>
            </a:r>
            <a:r>
              <a:rPr lang="en-IN" dirty="0"/>
              <a:t> (</a:t>
            </a:r>
            <a:r>
              <a:rPr lang="en-IN" dirty="0" err="1">
                <a:latin typeface="Courier New" panose="02070309020205020404" pitchFamily="49" charset="0"/>
              </a:rPr>
              <a:t>az</a:t>
            </a:r>
            <a:r>
              <a:rPr lang="en-IN" dirty="0">
                <a:latin typeface="Courier New" panose="02070309020205020404" pitchFamily="49" charset="0"/>
              </a:rPr>
              <a:t> storage blob upload</a:t>
            </a:r>
            <a:r>
              <a:rPr lang="en-IN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PowerShell</a:t>
            </a:r>
            <a:r>
              <a:rPr lang="en-IN" dirty="0"/>
              <a:t> (</a:t>
            </a:r>
            <a:r>
              <a:rPr lang="en-IN" dirty="0">
                <a:latin typeface="Courier New" panose="02070309020205020404" pitchFamily="49" charset="0"/>
              </a:rPr>
              <a:t>Set-</a:t>
            </a:r>
            <a:r>
              <a:rPr lang="en-IN" dirty="0" err="1">
                <a:latin typeface="Courier New" panose="02070309020205020404" pitchFamily="49" charset="0"/>
              </a:rPr>
              <a:t>AzStorageBlobContent</a:t>
            </a:r>
            <a:r>
              <a:rPr lang="en-IN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Terraform resources</a:t>
            </a:r>
            <a:r>
              <a:rPr lang="en-IN" dirty="0"/>
              <a:t> (</a:t>
            </a:r>
            <a:r>
              <a:rPr lang="en-IN" dirty="0" err="1">
                <a:latin typeface="Courier New" panose="02070309020205020404" pitchFamily="49" charset="0"/>
              </a:rPr>
              <a:t>azurerm_storage_account</a:t>
            </a:r>
            <a:r>
              <a:rPr lang="en-IN" dirty="0"/>
              <a:t>, </a:t>
            </a:r>
            <a:r>
              <a:rPr lang="en-IN" dirty="0" err="1">
                <a:latin typeface="Courier New" panose="02070309020205020404" pitchFamily="49" charset="0"/>
              </a:rPr>
              <a:t>azurerm_storage_container</a:t>
            </a:r>
            <a:r>
              <a:rPr lang="en-IN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655275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38DB0-68C2-84C3-06E5-44ACF5202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5FDE03-FE27-07FF-058E-D1E9D575535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n-US" sz="1600" dirty="0">
                <a:solidFill>
                  <a:srgbClr val="FF0000"/>
                </a:solidFill>
              </a:rPr>
              <a:t>Data Management features </a:t>
            </a:r>
          </a:p>
          <a:p>
            <a:endParaRPr lang="en-IN" sz="1600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3D46DB-06A3-F954-F690-CF6303FA0BC8}"/>
              </a:ext>
            </a:extLst>
          </p:cNvPr>
          <p:cNvSpPr txBox="1"/>
          <p:nvPr/>
        </p:nvSpPr>
        <p:spPr>
          <a:xfrm>
            <a:off x="0" y="1300475"/>
            <a:ext cx="56388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1. Lifecycle Management</a:t>
            </a:r>
          </a:p>
          <a:p>
            <a:pPr>
              <a:buNone/>
            </a:pPr>
            <a:r>
              <a:rPr lang="en-US" dirty="0"/>
              <a:t>Automates moving data between Hot, Cool, and Archive tiers.</a:t>
            </a:r>
            <a:br>
              <a:rPr lang="en-US" dirty="0"/>
            </a:br>
            <a:r>
              <a:rPr lang="en-US" dirty="0"/>
              <a:t>Helps reduce cost by deleting or tiering old data.</a:t>
            </a:r>
          </a:p>
          <a:p>
            <a:pPr>
              <a:buNone/>
            </a:pPr>
            <a:r>
              <a:rPr lang="en-US" b="1" dirty="0"/>
              <a:t>2. Versioning</a:t>
            </a:r>
          </a:p>
          <a:p>
            <a:pPr>
              <a:buNone/>
            </a:pPr>
            <a:r>
              <a:rPr lang="en-US" dirty="0"/>
              <a:t>Maintains previous versions of blobs.</a:t>
            </a:r>
            <a:br>
              <a:rPr lang="en-US" dirty="0"/>
            </a:br>
            <a:r>
              <a:rPr lang="en-US" dirty="0"/>
              <a:t>Allows recovery from accidental overwrite or changes.</a:t>
            </a:r>
          </a:p>
          <a:p>
            <a:pPr>
              <a:buNone/>
            </a:pPr>
            <a:r>
              <a:rPr lang="en-US" b="1" dirty="0"/>
              <a:t>3. Soft Delete (Blob / File / Container)</a:t>
            </a:r>
          </a:p>
          <a:p>
            <a:pPr>
              <a:buNone/>
            </a:pPr>
            <a:r>
              <a:rPr lang="en-US" dirty="0"/>
              <a:t>Retains deleted data for a chosen period.</a:t>
            </a:r>
            <a:br>
              <a:rPr lang="en-US" dirty="0"/>
            </a:br>
            <a:r>
              <a:rPr lang="en-US" dirty="0"/>
              <a:t>Protects against accidental deletion.</a:t>
            </a:r>
          </a:p>
          <a:p>
            <a:pPr>
              <a:buNone/>
            </a:pPr>
            <a:r>
              <a:rPr lang="en-US" b="1" dirty="0"/>
              <a:t>4. Immutable Storage (WORM)</a:t>
            </a:r>
          </a:p>
          <a:p>
            <a:pPr>
              <a:buNone/>
            </a:pPr>
            <a:r>
              <a:rPr lang="en-US" dirty="0"/>
              <a:t>Write-Once-Read-Many protection.</a:t>
            </a:r>
            <a:br>
              <a:rPr lang="en-US" dirty="0"/>
            </a:br>
            <a:r>
              <a:rPr lang="en-US" dirty="0"/>
              <a:t>Prevents data from being changed or deleted for compliance.(Time based </a:t>
            </a:r>
            <a:r>
              <a:rPr lang="en-US" dirty="0" err="1"/>
              <a:t>retain,Legal</a:t>
            </a:r>
            <a:r>
              <a:rPr lang="en-US" dirty="0"/>
              <a:t>-Hold) </a:t>
            </a:r>
          </a:p>
          <a:p>
            <a:pPr>
              <a:buNone/>
            </a:pPr>
            <a:r>
              <a:rPr lang="en-US" b="1" dirty="0"/>
              <a:t>5. Change Feed</a:t>
            </a:r>
          </a:p>
          <a:p>
            <a:pPr>
              <a:buNone/>
            </a:pPr>
            <a:r>
              <a:rPr lang="en-US" dirty="0"/>
              <a:t>Tracks all create, update, delete events in a blob.</a:t>
            </a:r>
            <a:br>
              <a:rPr lang="en-US" dirty="0"/>
            </a:br>
            <a:r>
              <a:rPr lang="en-US" dirty="0"/>
              <a:t>Used for auditing, analytics pipelines, and event-driven apps.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9868C3-C5C2-5E50-7426-8E9EF68B4A38}"/>
              </a:ext>
            </a:extLst>
          </p:cNvPr>
          <p:cNvSpPr txBox="1"/>
          <p:nvPr/>
        </p:nvSpPr>
        <p:spPr>
          <a:xfrm>
            <a:off x="5638800" y="1023506"/>
            <a:ext cx="60960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6. Data Encryption (At Rest &amp; In Transit)</a:t>
            </a:r>
          </a:p>
          <a:p>
            <a:pPr>
              <a:buNone/>
            </a:pPr>
            <a:r>
              <a:rPr lang="en-US" dirty="0"/>
              <a:t>All data is encrypted using AES-256 by default.</a:t>
            </a:r>
            <a:br>
              <a:rPr lang="en-US" dirty="0"/>
            </a:br>
            <a:r>
              <a:rPr lang="en-US" dirty="0"/>
              <a:t>Supports customer-managed keys (CMK) in Key Vault</a:t>
            </a:r>
          </a:p>
          <a:p>
            <a:pPr>
              <a:buNone/>
            </a:pPr>
            <a:r>
              <a:rPr lang="en-US" b="1" dirty="0"/>
              <a:t>7. Network Security</a:t>
            </a:r>
          </a:p>
          <a:p>
            <a:pPr>
              <a:buNone/>
            </a:pPr>
            <a:r>
              <a:rPr lang="en-US" dirty="0"/>
              <a:t>Private Endpoints, Firewalls, VNET integration.</a:t>
            </a:r>
            <a:br>
              <a:rPr lang="en-US" dirty="0"/>
            </a:br>
            <a:r>
              <a:rPr lang="en-US" dirty="0"/>
              <a:t>Restrict access to only trusted networks.</a:t>
            </a:r>
          </a:p>
          <a:p>
            <a:pPr>
              <a:buNone/>
            </a:pPr>
            <a:r>
              <a:rPr lang="en-US" b="1" dirty="0"/>
              <a:t>8. SAS Tokens (Shared Access Signatures)</a:t>
            </a:r>
          </a:p>
          <a:p>
            <a:pPr>
              <a:buNone/>
            </a:pPr>
            <a:r>
              <a:rPr lang="en-US" dirty="0"/>
              <a:t>Granular, time-bound access to specific containers/blobs.</a:t>
            </a:r>
            <a:br>
              <a:rPr lang="en-US" dirty="0"/>
            </a:br>
            <a:r>
              <a:rPr lang="en-US" dirty="0"/>
              <a:t>No need to share account keys.</a:t>
            </a:r>
          </a:p>
          <a:p>
            <a:pPr>
              <a:buNone/>
            </a:pPr>
            <a:r>
              <a:rPr lang="en-US" b="1" dirty="0"/>
              <a:t>9. Cross-Region Replication (GRS/GZRS)</a:t>
            </a:r>
          </a:p>
          <a:p>
            <a:pPr>
              <a:buNone/>
            </a:pPr>
            <a:r>
              <a:rPr lang="en-US" dirty="0"/>
              <a:t>Automatic replication to a secondary region.</a:t>
            </a:r>
            <a:br>
              <a:rPr lang="en-US" dirty="0"/>
            </a:br>
            <a:r>
              <a:rPr lang="en-US" dirty="0"/>
              <a:t>Provides disaster recovery readiness.</a:t>
            </a:r>
          </a:p>
          <a:p>
            <a:pPr>
              <a:buNone/>
            </a:pPr>
            <a:r>
              <a:rPr lang="en-US" b="1" dirty="0"/>
              <a:t>10. ADLS Gen2 (Hierarchical Namespace)</a:t>
            </a:r>
          </a:p>
          <a:p>
            <a:pPr>
              <a:buNone/>
            </a:pPr>
            <a:r>
              <a:rPr lang="en-US" dirty="0"/>
              <a:t>Optimized for big data analytics.</a:t>
            </a:r>
            <a:br>
              <a:rPr lang="en-US" dirty="0"/>
            </a:br>
            <a:r>
              <a:rPr lang="en-US" b="1" dirty="0"/>
              <a:t>11. Static Website Hosting</a:t>
            </a:r>
          </a:p>
          <a:p>
            <a:pPr>
              <a:buNone/>
            </a:pPr>
            <a:r>
              <a:rPr lang="en-US" dirty="0"/>
              <a:t>Host static HTML/JS/CSS files directly in Blob Storage.</a:t>
            </a:r>
            <a:br>
              <a:rPr lang="en-US" dirty="0"/>
            </a:br>
            <a:r>
              <a:rPr lang="en-US" dirty="0"/>
              <a:t>Simple and cost-effective website solution.</a:t>
            </a:r>
          </a:p>
          <a:p>
            <a:pPr>
              <a:buNone/>
            </a:pPr>
            <a:r>
              <a:rPr lang="en-US" b="1" dirty="0"/>
              <a:t>12.Access Key</a:t>
            </a:r>
          </a:p>
        </p:txBody>
      </p:sp>
    </p:spTree>
    <p:extLst>
      <p:ext uri="{BB962C8B-B14F-4D97-AF65-F5344CB8AC3E}">
        <p14:creationId xmlns:p14="http://schemas.microsoft.com/office/powerpoint/2010/main" val="6335878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86507-FAD7-4B35-164F-0E6C3E618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71289-A639-5239-8E8D-AF73BE8AD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Azure Storage Account</a:t>
            </a:r>
            <a:br>
              <a:rPr lang="en-IN" b="1" dirty="0"/>
            </a:b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4DFFCA-2A70-BB97-3D46-BDBECE6052BD}"/>
              </a:ext>
            </a:extLst>
          </p:cNvPr>
          <p:cNvSpPr txBox="1"/>
          <p:nvPr/>
        </p:nvSpPr>
        <p:spPr>
          <a:xfrm>
            <a:off x="664028" y="574202"/>
            <a:ext cx="7271658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Best Practices (Enterprise Ready)</a:t>
            </a:r>
          </a:p>
          <a:p>
            <a:pPr>
              <a:buNone/>
            </a:pPr>
            <a:r>
              <a:rPr lang="en-IN" sz="2000" b="1" dirty="0"/>
              <a:t>Security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2000" dirty="0"/>
              <a:t>Use Private Endpoints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2000" dirty="0"/>
              <a:t>Disable public access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2000" dirty="0"/>
              <a:t>Use RBAC + AAD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2000" dirty="0"/>
              <a:t>Avoid long-lived SAS tokens</a:t>
            </a:r>
          </a:p>
          <a:p>
            <a:pPr>
              <a:buNone/>
            </a:pPr>
            <a:r>
              <a:rPr lang="en-IN" sz="2000" b="1" dirty="0"/>
              <a:t>Performance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2000" dirty="0"/>
              <a:t>Use Premium storage for high IOPS workloads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2000" dirty="0"/>
              <a:t>Use correct tier (hot/cool/archive)</a:t>
            </a:r>
          </a:p>
          <a:p>
            <a:pPr>
              <a:buNone/>
            </a:pPr>
            <a:r>
              <a:rPr lang="en-IN" sz="2000" b="1" dirty="0"/>
              <a:t>Cost Optimization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2000" dirty="0"/>
              <a:t>Lifecycle management rules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2000" dirty="0"/>
              <a:t>Avoid unnecessary redundancy (GRS if needed)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2000" dirty="0"/>
              <a:t>Monitor unused blobs/file shares</a:t>
            </a:r>
          </a:p>
          <a:p>
            <a:pPr>
              <a:buNone/>
            </a:pPr>
            <a:r>
              <a:rPr lang="en-IN" sz="2000" b="1" dirty="0"/>
              <a:t>Operations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2000" dirty="0"/>
              <a:t>Enable soft delete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2000" dirty="0"/>
              <a:t>Enable versioning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2000" dirty="0"/>
              <a:t>Centralized logging</a:t>
            </a:r>
          </a:p>
        </p:txBody>
      </p:sp>
    </p:spTree>
    <p:extLst>
      <p:ext uri="{BB962C8B-B14F-4D97-AF65-F5344CB8AC3E}">
        <p14:creationId xmlns:p14="http://schemas.microsoft.com/office/powerpoint/2010/main" val="8196495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959</TotalTime>
  <Words>872</Words>
  <Application>Microsoft Office PowerPoint</Application>
  <PresentationFormat>Widescreen</PresentationFormat>
  <Paragraphs>118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</vt:lpstr>
      <vt:lpstr>Aptos Display</vt:lpstr>
      <vt:lpstr>Arial</vt:lpstr>
      <vt:lpstr>Consolas</vt:lpstr>
      <vt:lpstr>Courier New</vt:lpstr>
      <vt:lpstr>TWK Everett</vt:lpstr>
      <vt:lpstr>Office Theme</vt:lpstr>
      <vt:lpstr>PowerPoint Presentation</vt:lpstr>
      <vt:lpstr>Azure Storage Account </vt:lpstr>
      <vt:lpstr>Azure Storage Account </vt:lpstr>
      <vt:lpstr>Storage Replication types </vt:lpstr>
      <vt:lpstr>Azure Storage Account </vt:lpstr>
      <vt:lpstr>Azure Storage Account </vt:lpstr>
      <vt:lpstr>Azure Storage Account </vt:lpstr>
      <vt:lpstr>Azure Storage Account </vt:lpstr>
      <vt:lpstr>PowerPoint Presentation</vt:lpstr>
      <vt:lpstr>Azure Storage Account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Saravanakumar V</dc:creator>
  <cp:lastModifiedBy>Saravanakumar V</cp:lastModifiedBy>
  <cp:revision>15</cp:revision>
  <dcterms:created xsi:type="dcterms:W3CDTF">2025-11-30T12:50:12Z</dcterms:created>
  <dcterms:modified xsi:type="dcterms:W3CDTF">2025-12-02T12:55:22Z</dcterms:modified>
</cp:coreProperties>
</file>